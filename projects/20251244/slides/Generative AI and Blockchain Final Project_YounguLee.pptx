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73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7994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Blank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1D8BD707-D9CF-40AE-B4C6-C98DA3205C09}" type="datetime1">
              <a:rPr lang="en-US"/>
              <a:pPr lvl="0">
                <a:defRPr/>
              </a:pPr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B6F15528-21DE-4FAA-801E-634DDDAF4B2B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theme" Target="../theme/theme1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8.png"  /><Relationship Id="rId11" Type="http://schemas.openxmlformats.org/officeDocument/2006/relationships/image" Target="../media/image9.png"  /><Relationship Id="rId12" Type="http://schemas.openxmlformats.org/officeDocument/2006/relationships/image" Target="../media/image10.png"  /><Relationship Id="rId13" Type="http://schemas.openxmlformats.org/officeDocument/2006/relationships/image" Target="../media/image11.png"  /><Relationship Id="rId14" Type="http://schemas.openxmlformats.org/officeDocument/2006/relationships/image" Target="../media/image12.png"  /><Relationship Id="rId15" Type="http://schemas.openxmlformats.org/officeDocument/2006/relationships/image" Target="../media/image13.png"  /><Relationship Id="rId16" Type="http://schemas.openxmlformats.org/officeDocument/2006/relationships/image" Target="../media/image14.png"  /><Relationship Id="rId17" Type="http://schemas.openxmlformats.org/officeDocument/2006/relationships/image" Target="../media/image15.png"  /><Relationship Id="rId18" Type="http://schemas.openxmlformats.org/officeDocument/2006/relationships/image" Target="../media/image16.png"  /><Relationship Id="rId19" Type="http://schemas.openxmlformats.org/officeDocument/2006/relationships/image" Target="../media/image17.png"  /><Relationship Id="rId2" Type="http://schemas.openxmlformats.org/officeDocument/2006/relationships/slideLayout" Target="../slideLayouts/slideLayout1.xml"  /><Relationship Id="rId20" Type="http://schemas.openxmlformats.org/officeDocument/2006/relationships/image" Target="../media/image18.png"  /><Relationship Id="rId21" Type="http://schemas.openxmlformats.org/officeDocument/2006/relationships/image" Target="../media/image19.png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7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Relationship Id="rId5" Type="http://schemas.openxmlformats.org/officeDocument/2006/relationships/image" Target="../media/image22.png"  /><Relationship Id="rId6" Type="http://schemas.openxmlformats.org/officeDocument/2006/relationships/image" Target="../media/image2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Relationship Id="rId5" Type="http://schemas.openxmlformats.org/officeDocument/2006/relationships/image" Target="../media/image22.png"  /><Relationship Id="rId6" Type="http://schemas.openxmlformats.org/officeDocument/2006/relationships/image" Target="../media/image2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10" Type="http://schemas.openxmlformats.org/officeDocument/2006/relationships/image" Target="../media/image29.png"  /><Relationship Id="rId11" Type="http://schemas.openxmlformats.org/officeDocument/2006/relationships/image" Target="../media/image30.png"  /><Relationship Id="rId12" Type="http://schemas.openxmlformats.org/officeDocument/2006/relationships/image" Target="../media/image31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5.png"  /><Relationship Id="rId4" Type="http://schemas.openxmlformats.org/officeDocument/2006/relationships/image" Target="../media/image26.png"  /><Relationship Id="rId5" Type="http://schemas.openxmlformats.org/officeDocument/2006/relationships/image" Target="../media/image27.png"  /><Relationship Id="rId6" Type="http://schemas.openxmlformats.org/officeDocument/2006/relationships/image" Target="../media/image28.png"  /><Relationship Id="rId7" Type="http://schemas.openxmlformats.org/officeDocument/2006/relationships/image" Target="../media/image29.png"  /><Relationship Id="rId8" Type="http://schemas.openxmlformats.org/officeDocument/2006/relationships/image" Target="../media/image30.png"  /><Relationship Id="rId9" Type="http://schemas.openxmlformats.org/officeDocument/2006/relationships/image" Target="../media/image31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10" Type="http://schemas.openxmlformats.org/officeDocument/2006/relationships/image" Target="../media/image39.png"  /><Relationship Id="rId11" Type="http://schemas.openxmlformats.org/officeDocument/2006/relationships/image" Target="../media/image40.png"  /><Relationship Id="rId12" Type="http://schemas.openxmlformats.org/officeDocument/2006/relationships/image" Target="../media/image41.png"  /><Relationship Id="rId13" Type="http://schemas.openxmlformats.org/officeDocument/2006/relationships/image" Target="../media/image42.png"  /><Relationship Id="rId14" Type="http://schemas.openxmlformats.org/officeDocument/2006/relationships/image" Target="../media/image43.png"  /><Relationship Id="rId15" Type="http://schemas.openxmlformats.org/officeDocument/2006/relationships/image" Target="../media/image44.png"  /><Relationship Id="rId16" Type="http://schemas.openxmlformats.org/officeDocument/2006/relationships/image" Target="../media/image45.png"  /><Relationship Id="rId17" Type="http://schemas.openxmlformats.org/officeDocument/2006/relationships/image" Target="../media/image46.png"  /><Relationship Id="rId18" Type="http://schemas.openxmlformats.org/officeDocument/2006/relationships/image" Target="../media/image47.png"  /><Relationship Id="rId19" Type="http://schemas.openxmlformats.org/officeDocument/2006/relationships/image" Target="../media/image48.png"  /><Relationship Id="rId2" Type="http://schemas.openxmlformats.org/officeDocument/2006/relationships/slideLayout" Target="../slideLayouts/slideLayout1.xml"  /><Relationship Id="rId20" Type="http://schemas.openxmlformats.org/officeDocument/2006/relationships/image" Target="../media/image49.png"  /><Relationship Id="rId21" Type="http://schemas.openxmlformats.org/officeDocument/2006/relationships/image" Target="../media/image50.png"  /><Relationship Id="rId22" Type="http://schemas.openxmlformats.org/officeDocument/2006/relationships/image" Target="../media/image51.png"  /><Relationship Id="rId23" Type="http://schemas.openxmlformats.org/officeDocument/2006/relationships/image" Target="../media/image52.png"  /><Relationship Id="rId24" Type="http://schemas.openxmlformats.org/officeDocument/2006/relationships/image" Target="../media/image53.png"  /><Relationship Id="rId25" Type="http://schemas.openxmlformats.org/officeDocument/2006/relationships/image" Target="../media/image54.png"  /><Relationship Id="rId26" Type="http://schemas.openxmlformats.org/officeDocument/2006/relationships/image" Target="../media/image55.png"  /><Relationship Id="rId27" Type="http://schemas.openxmlformats.org/officeDocument/2006/relationships/image" Target="../media/image56.png"  /><Relationship Id="rId3" Type="http://schemas.openxmlformats.org/officeDocument/2006/relationships/image" Target="../media/image32.png"  /><Relationship Id="rId4" Type="http://schemas.openxmlformats.org/officeDocument/2006/relationships/image" Target="../media/image33.png"  /><Relationship Id="rId5" Type="http://schemas.openxmlformats.org/officeDocument/2006/relationships/image" Target="../media/image34.png"  /><Relationship Id="rId6" Type="http://schemas.openxmlformats.org/officeDocument/2006/relationships/image" Target="../media/image35.png"  /><Relationship Id="rId7" Type="http://schemas.openxmlformats.org/officeDocument/2006/relationships/image" Target="../media/image36.png"  /><Relationship Id="rId8" Type="http://schemas.openxmlformats.org/officeDocument/2006/relationships/image" Target="../media/image37.png"  /><Relationship Id="rId9" Type="http://schemas.openxmlformats.org/officeDocument/2006/relationships/image" Target="../media/image3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7.png"  /><Relationship Id="rId4" Type="http://schemas.openxmlformats.org/officeDocument/2006/relationships/image" Target="../media/image58.png"  /><Relationship Id="rId5" Type="http://schemas.openxmlformats.org/officeDocument/2006/relationships/image" Target="../media/image59.png"  /><Relationship Id="rId6" Type="http://schemas.openxmlformats.org/officeDocument/2006/relationships/image" Target="../media/image60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1.png"  /><Relationship Id="rId4" Type="http://schemas.openxmlformats.org/officeDocument/2006/relationships/image" Target="../media/image62.png"  /><Relationship Id="rId5" Type="http://schemas.openxmlformats.org/officeDocument/2006/relationships/image" Target="../media/image63.png"  /><Relationship Id="rId6" Type="http://schemas.openxmlformats.org/officeDocument/2006/relationships/image" Target="../media/image64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10" Type="http://schemas.openxmlformats.org/officeDocument/2006/relationships/image" Target="../media/image72.png"  /><Relationship Id="rId11" Type="http://schemas.openxmlformats.org/officeDocument/2006/relationships/image" Target="../media/image73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5.png"  /><Relationship Id="rId4" Type="http://schemas.openxmlformats.org/officeDocument/2006/relationships/image" Target="../media/image66.png"  /><Relationship Id="rId5" Type="http://schemas.openxmlformats.org/officeDocument/2006/relationships/image" Target="../media/image67.png"  /><Relationship Id="rId6" Type="http://schemas.openxmlformats.org/officeDocument/2006/relationships/image" Target="../media/image68.png"  /><Relationship Id="rId7" Type="http://schemas.openxmlformats.org/officeDocument/2006/relationships/image" Target="../media/image69.png"  /><Relationship Id="rId8" Type="http://schemas.openxmlformats.org/officeDocument/2006/relationships/image" Target="../media/image70.png"  /><Relationship Id="rId9" Type="http://schemas.openxmlformats.org/officeDocument/2006/relationships/image" Target="../media/image7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74.png"  /><Relationship Id="rId4" Type="http://schemas.openxmlformats.org/officeDocument/2006/relationships/image" Target="../media/image75.png"  /><Relationship Id="rId5" Type="http://schemas.openxmlformats.org/officeDocument/2006/relationships/image" Target="../media/image76.png"  /><Relationship Id="rId6" Type="http://schemas.openxmlformats.org/officeDocument/2006/relationships/image" Target="../media/image77.png"  /><Relationship Id="rId7" Type="http://schemas.openxmlformats.org/officeDocument/2006/relationships/image" Target="../media/image78.png"  /><Relationship Id="rId8" Type="http://schemas.openxmlformats.org/officeDocument/2006/relationships/image" Target="../media/image7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74.png"  /><Relationship Id="rId4" Type="http://schemas.openxmlformats.org/officeDocument/2006/relationships/image" Target="../media/image75.png"  /><Relationship Id="rId5" Type="http://schemas.openxmlformats.org/officeDocument/2006/relationships/image" Target="../media/image76.png"  /><Relationship Id="rId6" Type="http://schemas.openxmlformats.org/officeDocument/2006/relationships/image" Target="../media/image80.png"  /><Relationship Id="rId7" Type="http://schemas.openxmlformats.org/officeDocument/2006/relationships/image" Target="../media/image81.png"  /><Relationship Id="rId8" Type="http://schemas.openxmlformats.org/officeDocument/2006/relationships/image" Target="../media/image82.png"  /><Relationship Id="rId9" Type="http://schemas.openxmlformats.org/officeDocument/2006/relationships/image" Target="../media/image8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10" Type="http://schemas.openxmlformats.org/officeDocument/2006/relationships/image" Target="../media/image91.png"  /><Relationship Id="rId11" Type="http://schemas.openxmlformats.org/officeDocument/2006/relationships/image" Target="../media/image92.png"  /><Relationship Id="rId12" Type="http://schemas.openxmlformats.org/officeDocument/2006/relationships/image" Target="../media/image93.png"  /><Relationship Id="rId13" Type="http://schemas.openxmlformats.org/officeDocument/2006/relationships/image" Target="../media/image94.png"  /><Relationship Id="rId14" Type="http://schemas.openxmlformats.org/officeDocument/2006/relationships/image" Target="../media/image95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4.png"  /><Relationship Id="rId4" Type="http://schemas.openxmlformats.org/officeDocument/2006/relationships/image" Target="../media/image85.png"  /><Relationship Id="rId5" Type="http://schemas.openxmlformats.org/officeDocument/2006/relationships/image" Target="../media/image86.png"  /><Relationship Id="rId6" Type="http://schemas.openxmlformats.org/officeDocument/2006/relationships/image" Target="../media/image87.png"  /><Relationship Id="rId7" Type="http://schemas.openxmlformats.org/officeDocument/2006/relationships/image" Target="../media/image88.png"  /><Relationship Id="rId8" Type="http://schemas.openxmlformats.org/officeDocument/2006/relationships/image" Target="../media/image89.png"  /><Relationship Id="rId9" Type="http://schemas.openxmlformats.org/officeDocument/2006/relationships/image" Target="../media/image9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6.png"  /><Relationship Id="rId4" Type="http://schemas.openxmlformats.org/officeDocument/2006/relationships/image" Target="../media/image9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33414" y="310676"/>
            <a:ext cx="11541840" cy="6236646"/>
            <a:chOff x="0" y="0"/>
            <a:chExt cx="4700391" cy="25398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00391" cy="2539862"/>
            </a:xfrm>
            <a:custGeom>
              <a:avLst/>
              <a:gdLst/>
              <a:rect l="l" t="t" r="r" b="b"/>
              <a:pathLst>
                <a:path w="4700391" h="2539862">
                  <a:moveTo>
                    <a:pt x="4540371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379842"/>
                  </a:lnTo>
                  <a:lnTo>
                    <a:pt x="160020" y="2539862"/>
                  </a:lnTo>
                  <a:lnTo>
                    <a:pt x="4540371" y="2539862"/>
                  </a:lnTo>
                  <a:lnTo>
                    <a:pt x="4700391" y="2379842"/>
                  </a:lnTo>
                  <a:lnTo>
                    <a:pt x="4700391" y="160020"/>
                  </a:lnTo>
                  <a:lnTo>
                    <a:pt x="4540371" y="0"/>
                  </a:lnTo>
                  <a:close/>
                </a:path>
              </a:pathLst>
            </a:custGeom>
            <a:solidFill>
              <a:srgbClr val="f1f5f7"/>
            </a:solidFill>
          </p:spPr>
          <p:txBody>
            <a:bodyPr anchor="ctr"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3500" y="15875"/>
              <a:ext cx="4573391" cy="2460487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19748" y="110911"/>
            <a:ext cx="1082054" cy="1293392"/>
            <a:chOff x="0" y="0"/>
            <a:chExt cx="2164108" cy="2586784"/>
          </a:xfrm>
        </p:grpSpPr>
        <p:grpSp>
          <p:nvGrpSpPr>
            <p:cNvPr id="7" name="Group 7"/>
            <p:cNvGrpSpPr/>
            <p:nvPr/>
          </p:nvGrpSpPr>
          <p:grpSpPr>
            <a:xfrm rot="19411110">
              <a:off x="1000588" y="1322157"/>
              <a:ext cx="726576" cy="635754"/>
              <a:chOff x="0" y="0"/>
              <a:chExt cx="812800" cy="7112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ln w="95250" cap="sq">
                <a:solidFill>
                  <a:srgbClr val="313343"/>
                </a:solidFill>
                <a:prstDash val="solid"/>
                <a:miter/>
              </a:ln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19600" tIns="19600" rIns="19600" bIns="19600" anchor="ctr"/>
              <a:lstStyle/>
              <a:p>
                <a:pPr algn="ctr">
                  <a:lnSpc>
                    <a:spcPts val="265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18577982">
              <a:off x="1479822" y="630490"/>
              <a:ext cx="568341" cy="568341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solidFill>
                  <a:srgbClr val="dc6a6b"/>
                </a:solidFill>
                <a:prstDash val="solid"/>
                <a:miter/>
              </a:ln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9600" tIns="19600" rIns="19600" bIns="19600" anchor="ctr"/>
              <a:lstStyle/>
              <a:p>
                <a:pPr algn="ctr">
                  <a:lnSpc>
                    <a:spcPts val="265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18577982">
              <a:off x="443270" y="2015738"/>
              <a:ext cx="474289" cy="474289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9600" tIns="19600" rIns="19600" bIns="19600" anchor="ctr"/>
              <a:lstStyle/>
              <a:p>
                <a:pPr algn="ctr">
                  <a:lnSpc>
                    <a:spcPts val="265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19646530">
              <a:off x="588813" y="133300"/>
              <a:ext cx="699738" cy="699738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ln w="95250" cap="sq">
                <a:solidFill>
                  <a:srgbClr val="7c7d99"/>
                </a:solidFill>
                <a:prstDash val="solid"/>
                <a:miter/>
              </a:ln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lIns="19600" tIns="19600" rIns="19600" bIns="19600" anchor="ctr"/>
              <a:lstStyle/>
              <a:p>
                <a:pPr algn="ctr">
                  <a:lnSpc>
                    <a:spcPts val="265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19545450">
              <a:off x="144901" y="1012432"/>
              <a:ext cx="744303" cy="744303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ln w="66675" cap="sq">
                <a:solidFill>
                  <a:srgbClr val="bbcdde"/>
                </a:solidFill>
                <a:prstDash val="solid"/>
                <a:miter/>
              </a:ln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19600" tIns="19600" rIns="19600" bIns="19600" anchor="ctr"/>
              <a:lstStyle/>
              <a:p>
                <a:pPr algn="ctr">
                  <a:lnSpc>
                    <a:spcPts val="2659"/>
                  </a:lnSpc>
                  <a:defRPr/>
                </a:pPr>
                <a:endParaRPr lang="ko-KR" altLang="en-US"/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 rot="3763625">
            <a:off x="10965174" y="5525504"/>
            <a:ext cx="1082054" cy="1293392"/>
            <a:chOff x="0" y="0"/>
            <a:chExt cx="2164108" cy="2586784"/>
          </a:xfrm>
        </p:grpSpPr>
        <p:grpSp>
          <p:nvGrpSpPr>
            <p:cNvPr id="23" name="Group 23"/>
            <p:cNvGrpSpPr/>
            <p:nvPr/>
          </p:nvGrpSpPr>
          <p:grpSpPr>
            <a:xfrm rot="19411110">
              <a:off x="1000588" y="1322157"/>
              <a:ext cx="726576" cy="635754"/>
              <a:chOff x="0" y="0"/>
              <a:chExt cx="812800" cy="7112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ln w="95250" cap="sq">
                <a:solidFill>
                  <a:srgbClr val="313343"/>
                </a:solidFill>
                <a:prstDash val="solid"/>
                <a:miter/>
              </a:ln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lIns="19600" tIns="19600" rIns="19600" bIns="19600" anchor="ctr"/>
              <a:lstStyle/>
              <a:p>
                <a:pPr algn="ctr">
                  <a:lnSpc>
                    <a:spcPts val="265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 rot="18577982">
              <a:off x="1479822" y="630490"/>
              <a:ext cx="568341" cy="568341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solidFill>
                  <a:srgbClr val="dc6a6b"/>
                </a:solidFill>
                <a:prstDash val="solid"/>
                <a:miter/>
              </a:ln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9600" tIns="19600" rIns="19600" bIns="19600" anchor="ctr"/>
              <a:lstStyle/>
              <a:p>
                <a:pPr algn="ctr">
                  <a:lnSpc>
                    <a:spcPts val="265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18577982">
              <a:off x="443270" y="2015738"/>
              <a:ext cx="474289" cy="474289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solidFill>
                  <a:srgbClr val="ffffff"/>
                </a:solidFill>
                <a:prstDash val="solid"/>
                <a:miter/>
              </a:ln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19600" tIns="19600" rIns="19600" bIns="19600" anchor="ctr"/>
              <a:lstStyle/>
              <a:p>
                <a:pPr algn="ctr">
                  <a:lnSpc>
                    <a:spcPts val="265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19646530">
              <a:off x="588813" y="133300"/>
              <a:ext cx="699738" cy="699738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ln w="95250" cap="sq">
                <a:solidFill>
                  <a:srgbClr val="7c7d99"/>
                </a:solidFill>
                <a:prstDash val="solid"/>
                <a:miter/>
              </a:ln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lIns="19600" tIns="19600" rIns="19600" bIns="19600" anchor="ctr"/>
              <a:lstStyle/>
              <a:p>
                <a:pPr algn="ctr">
                  <a:lnSpc>
                    <a:spcPts val="2659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 rot="19545450">
              <a:off x="144901" y="1012432"/>
              <a:ext cx="744303" cy="744303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ln w="66675" cap="sq">
                <a:solidFill>
                  <a:srgbClr val="bbcdde"/>
                </a:solidFill>
                <a:prstDash val="solid"/>
                <a:miter/>
              </a:ln>
            </p:spPr>
            <p:txBody>
              <a:bodyPr anchor="ctr"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19600" tIns="19600" rIns="19600" bIns="19600" anchor="ctr"/>
              <a:lstStyle/>
              <a:p>
                <a:pPr algn="ctr">
                  <a:lnSpc>
                    <a:spcPts val="2659"/>
                  </a:lnSpc>
                  <a:defRPr/>
                </a:pPr>
                <a:endParaRPr lang="ko-KR" altLang="en-US"/>
              </a:p>
            </p:txBody>
          </p:sp>
        </p:grpSp>
      </p:grpSp>
      <p:sp>
        <p:nvSpPr>
          <p:cNvPr id="38" name="TextBox 38"/>
          <p:cNvSpPr txBox="1"/>
          <p:nvPr/>
        </p:nvSpPr>
        <p:spPr>
          <a:xfrm>
            <a:off x="1120183" y="6020223"/>
            <a:ext cx="2830137" cy="40915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218"/>
              </a:lnSpc>
              <a:defRPr/>
            </a:pPr>
            <a:r>
              <a:rPr lang="en-US" sz="2299">
                <a:solidFill>
                  <a:srgbClr val="313343"/>
                </a:solidFill>
                <a:latin typeface="Seoul Namsan Condensed Bold"/>
                <a:ea typeface="Seoul Namsan Condensed Bold"/>
                <a:cs typeface="Seoul Namsan Condensed Bold"/>
                <a:sym typeface="Seoul Namsan Condensed Bold"/>
              </a:rPr>
              <a:t>Youngu Lee</a:t>
            </a:r>
            <a:endParaRPr lang="en-US" sz="2299">
              <a:solidFill>
                <a:srgbClr val="313343"/>
              </a:solidFill>
              <a:latin typeface="Seoul Namsan Condensed Bold"/>
              <a:ea typeface="Seoul Namsan Condensed Bold"/>
              <a:cs typeface="Seoul Namsan Condensed Bold"/>
              <a:sym typeface="Seoul Namsan Condensed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493350" y="1600192"/>
            <a:ext cx="9205300" cy="2636831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algn="ctr">
              <a:lnSpc>
                <a:spcPts val="10400"/>
              </a:lnSpc>
              <a:spcBef>
                <a:spcPts val="0"/>
              </a:spcBef>
              <a:defRPr/>
            </a:pPr>
            <a:r>
              <a:rPr lang="en-US" sz="6700">
                <a:solidFill>
                  <a:srgbClr val="313343"/>
                </a:solidFill>
                <a:latin typeface="굴림"/>
                <a:ea typeface="굴림"/>
                <a:cs typeface="Seoul Namsan Condensed Bold"/>
                <a:sym typeface="Seoul Namsan Condensed Bold"/>
              </a:rPr>
              <a:t>Daily Korea Morning</a:t>
            </a:r>
            <a:r>
              <a:rPr lang="ko-KR" altLang="en-US" sz="6700">
                <a:solidFill>
                  <a:srgbClr val="313343"/>
                </a:solidFill>
                <a:latin typeface="굴림"/>
                <a:ea typeface="굴림"/>
                <a:cs typeface="Seoul Namsan Condensed Bold"/>
                <a:sym typeface="Seoul Namsan Condensed Bold"/>
              </a:rPr>
              <a:t> </a:t>
            </a:r>
            <a:r>
              <a:rPr lang="en-US" sz="6700">
                <a:solidFill>
                  <a:srgbClr val="313343"/>
                </a:solidFill>
                <a:latin typeface="굴림"/>
                <a:ea typeface="굴림"/>
                <a:cs typeface="Seoul Namsan Condensed Bold"/>
                <a:sym typeface="Seoul Namsan Condensed Bold"/>
              </a:rPr>
              <a:t>Briefing Agent</a:t>
            </a:r>
            <a:endParaRPr lang="en-US" sz="6700">
              <a:solidFill>
                <a:srgbClr val="313343"/>
              </a:solidFill>
              <a:latin typeface="굴림"/>
              <a:ea typeface="굴림"/>
              <a:cs typeface="Seoul Namsan Condensed Bold"/>
              <a:sym typeface="Seoul Namsan Condensed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8583698" y="6029579"/>
            <a:ext cx="2367934" cy="4093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lang="en-US" sz="2300">
                <a:solidFill>
                  <a:srgbClr val="313343"/>
                </a:solidFill>
                <a:latin typeface="Seoul Namsan Condensed Bold"/>
                <a:ea typeface="Seoul Namsan Condensed Bold"/>
                <a:cs typeface="Seoul Namsan Condensed Bold"/>
                <a:sym typeface="Seoul Namsan Condensed Bold"/>
              </a:rPr>
              <a:t>2026.06.10</a:t>
            </a:r>
            <a:endParaRPr lang="en-US" sz="2300">
              <a:solidFill>
                <a:srgbClr val="313343"/>
              </a:solidFill>
              <a:latin typeface="Seoul Namsan Condensed Bold"/>
              <a:ea typeface="Seoul Namsan Condensed Bold"/>
              <a:cs typeface="Seoul Namsan Condensed Bold"/>
              <a:sym typeface="Seoul Namsan Condensed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333414" y="6515573"/>
            <a:ext cx="11541840" cy="34242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  <a:defRPr/>
            </a:pPr>
            <a:r>
              <a:rPr lang="en-US" sz="1899">
                <a:solidFill>
                  <a:srgbClr val="000000"/>
                </a:solidFill>
                <a:latin typeface="Jeju Hallasan"/>
                <a:ea typeface="Jeju Hallasan"/>
                <a:cs typeface="Jeju Hallasan"/>
                <a:sym typeface="Jeju Hallasan"/>
              </a:rPr>
              <a:t>Generative AI and Blockchain Final Project</a:t>
            </a:r>
            <a:endParaRPr lang="en-US" sz="1899">
              <a:solidFill>
                <a:srgbClr val="000000"/>
              </a:solidFill>
              <a:latin typeface="Jeju Hallasan"/>
              <a:ea typeface="Jeju Hallasan"/>
              <a:cs typeface="Jeju Hallasan"/>
              <a:sym typeface="Jeju Hallas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414696" y="4759736"/>
            <a:ext cx="9362608" cy="36280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en-US"/>
              <a:t>A collaborative multi-agent workflow for reliable, traceable, and automated morning news briefing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6225" y="276225"/>
            <a:ext cx="11639550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42491" y="2789355"/>
            <a:ext cx="2103578" cy="14496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57625" y="2705100"/>
            <a:ext cx="2103578" cy="164580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6419850" y="2790825"/>
            <a:ext cx="2103578" cy="144961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943975" y="2790825"/>
            <a:ext cx="2103578" cy="144961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85750" y="285750"/>
            <a:ext cx="1778496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PROJECT OVERVIEW</a:t>
            </a:r>
            <a:endParaRPr lang="en-US" sz="1200"/>
          </a:p>
        </p:txBody>
      </p:sp>
      <p:sp>
        <p:nvSpPr>
          <p:cNvPr id="10" name="Text 1"/>
          <p:cNvSpPr/>
          <p:nvPr/>
        </p:nvSpPr>
        <p:spPr>
          <a:xfrm>
            <a:off x="10577513" y="309563"/>
            <a:ext cx="1328738" cy="152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Korea Briefing Agent</a:t>
            </a:r>
            <a:endParaRPr lang="en-US" sz="900"/>
          </a:p>
        </p:txBody>
      </p:sp>
      <p:sp>
        <p:nvSpPr>
          <p:cNvPr id="11" name="Text 2"/>
          <p:cNvSpPr/>
          <p:nvPr/>
        </p:nvSpPr>
        <p:spPr>
          <a:xfrm>
            <a:off x="2833985" y="952121"/>
            <a:ext cx="6523881" cy="4877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300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Project Overview</a:t>
            </a:r>
            <a:endParaRPr lang="en-US" sz="3000"/>
          </a:p>
        </p:txBody>
      </p:sp>
      <p:sp>
        <p:nvSpPr>
          <p:cNvPr id="12" name="Text 3"/>
          <p:cNvSpPr/>
          <p:nvPr/>
        </p:nvSpPr>
        <p:spPr>
          <a:xfrm>
            <a:off x="2408337" y="1580173"/>
            <a:ext cx="7375326" cy="43549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02fa7"/>
                </a:solidFill>
                <a:latin typeface="Segoe UI"/>
                <a:ea typeface="Segoe UI"/>
                <a:cs typeface="Segoe UI"/>
              </a:rPr>
              <a:t>A collaborative daily briefing workflow—not a single summarization bot.</a:t>
            </a:r>
            <a:endParaRPr lang="en-US" sz="160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122591" y="2998905"/>
            <a:ext cx="381477" cy="381477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814219" y="3414135"/>
            <a:ext cx="1043444" cy="19618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Time Trigger</a:t>
            </a:r>
            <a:endParaRPr lang="en-US" sz="1300"/>
          </a:p>
        </p:txBody>
      </p:sp>
      <p:sp>
        <p:nvSpPr>
          <p:cNvPr id="15" name="Text 5"/>
          <p:cNvSpPr/>
          <p:nvPr/>
        </p:nvSpPr>
        <p:spPr>
          <a:xfrm>
            <a:off x="1955159" y="3680835"/>
            <a:ext cx="721061" cy="174389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07:00 KST</a:t>
            </a:r>
            <a:endParaRPr lang="en-US" sz="110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495675" y="3276600"/>
            <a:ext cx="305182" cy="337880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686300" y="2914650"/>
            <a:ext cx="468672" cy="381477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4119563" y="3329880"/>
            <a:ext cx="1634905" cy="39237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Agent Collaboration</a:t>
            </a:r>
            <a:endParaRPr lang="en-US" sz="1300"/>
          </a:p>
        </p:txBody>
      </p:sp>
      <p:sp>
        <p:nvSpPr>
          <p:cNvPr id="19" name="Text 7"/>
          <p:cNvSpPr/>
          <p:nvPr/>
        </p:nvSpPr>
        <p:spPr>
          <a:xfrm>
            <a:off x="4477941" y="3768030"/>
            <a:ext cx="814557" cy="174389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Agent A &amp; B</a:t>
            </a:r>
            <a:endParaRPr lang="en-US" sz="110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5991225" y="3276600"/>
            <a:ext cx="305182" cy="337880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7248525" y="3000375"/>
            <a:ext cx="381477" cy="381477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7066806" y="3453705"/>
            <a:ext cx="775387" cy="19618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altLang="ko-KR" sz="13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Verify</a:t>
            </a:r>
            <a:endParaRPr lang="en-US" altLang="ko-KR" sz="1300" b="1">
              <a:solidFill>
                <a:srgbClr val="111827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3" name="Text 9"/>
          <p:cNvSpPr/>
          <p:nvPr/>
        </p:nvSpPr>
        <p:spPr>
          <a:xfrm>
            <a:off x="7149852" y="3720405"/>
            <a:ext cx="585329" cy="174389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10 Items</a:t>
            </a:r>
            <a:endParaRPr lang="en-US" sz="110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582025" y="3276600"/>
            <a:ext cx="305182" cy="337880"/>
          </a:xfrm>
          <a:prstGeom prst="rect">
            <a:avLst/>
          </a:prstGeom>
        </p:spPr>
      </p:pic>
      <p:pic>
        <p:nvPicPr>
          <p:cNvPr id="25" name="Image 13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9782174" y="3000375"/>
            <a:ext cx="468672" cy="381477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9488388" y="3415605"/>
            <a:ext cx="1075630" cy="19618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Discord Post</a:t>
            </a:r>
            <a:endParaRPr lang="en-US" sz="1300"/>
          </a:p>
        </p:txBody>
      </p:sp>
      <p:sp>
        <p:nvSpPr>
          <p:cNvPr id="27" name="Text 11"/>
          <p:cNvSpPr/>
          <p:nvPr/>
        </p:nvSpPr>
        <p:spPr>
          <a:xfrm>
            <a:off x="9755535" y="3682305"/>
            <a:ext cx="551270" cy="174389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Delivery</a:t>
            </a:r>
            <a:endParaRPr lang="en-US" sz="1100"/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276225" y="4610100"/>
            <a:ext cx="4810125" cy="30480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285750" y="4625280"/>
            <a:ext cx="4783782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Daily operation</a:t>
            </a:r>
            <a:endParaRPr lang="en-US" sz="1700"/>
          </a:p>
        </p:txBody>
      </p:sp>
      <p:pic>
        <p:nvPicPr>
          <p:cNvPr id="30" name="Image 15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276225" y="5153025"/>
            <a:ext cx="152400" cy="161925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>
            <a:off x="514350" y="4914900"/>
            <a:ext cx="4422665" cy="45333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Trigger: 07:00 KST (scheduled)</a:t>
            </a:r>
            <a:endParaRPr lang="en-US" sz="1700"/>
          </a:p>
        </p:txBody>
      </p:sp>
      <p:pic>
        <p:nvPicPr>
          <p:cNvPr id="32" name="Image 16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276225" y="5505450"/>
            <a:ext cx="152400" cy="161925"/>
          </a:xfrm>
          <a:prstGeom prst="rect">
            <a:avLst/>
          </a:prstGeom>
        </p:spPr>
      </p:pic>
      <p:sp>
        <p:nvSpPr>
          <p:cNvPr id="33" name="Text 14"/>
          <p:cNvSpPr/>
          <p:nvPr/>
        </p:nvSpPr>
        <p:spPr>
          <a:xfrm>
            <a:off x="514350" y="5463480"/>
            <a:ext cx="4406286" cy="5143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Output: 10 important news items for Korean readers (Discord-ready)</a:t>
            </a:r>
            <a:endParaRPr lang="en-US" sz="1700"/>
          </a:p>
        </p:txBody>
      </p:sp>
      <p:pic>
        <p:nvPicPr>
          <p:cNvPr id="34" name="Image 17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5819775" y="4610100"/>
            <a:ext cx="6096000" cy="304800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5831532" y="4625280"/>
            <a:ext cx="6074718" cy="2381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Workflow stages</a:t>
            </a:r>
            <a:endParaRPr lang="en-US" sz="1700"/>
          </a:p>
        </p:txBody>
      </p:sp>
      <p:pic>
        <p:nvPicPr>
          <p:cNvPr id="36" name="Image 18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5772150" y="5153025"/>
            <a:ext cx="161925" cy="161925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>
            <a:off x="6060132" y="5111055"/>
            <a:ext cx="5846118" cy="5143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Candidate collection → verification → selection → summarization → logging → delivery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6225" y="276225"/>
            <a:ext cx="11639550" cy="3048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85750" y="285750"/>
            <a:ext cx="8572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PROBLEM</a:t>
            </a:r>
            <a:endParaRPr lang="en-US" sz="1200"/>
          </a:p>
        </p:txBody>
      </p:sp>
      <p:sp>
        <p:nvSpPr>
          <p:cNvPr id="6" name="Text 1"/>
          <p:cNvSpPr/>
          <p:nvPr/>
        </p:nvSpPr>
        <p:spPr>
          <a:xfrm>
            <a:off x="10577513" y="309563"/>
            <a:ext cx="1328738" cy="152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Korea Briefing Agent</a:t>
            </a:r>
            <a:endParaRPr lang="en-US" sz="900"/>
          </a:p>
        </p:txBody>
      </p:sp>
      <p:sp>
        <p:nvSpPr>
          <p:cNvPr id="7" name="Text 2"/>
          <p:cNvSpPr/>
          <p:nvPr/>
        </p:nvSpPr>
        <p:spPr>
          <a:xfrm>
            <a:off x="285750" y="876300"/>
            <a:ext cx="11620500" cy="4877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Why Do We Need This System?</a:t>
            </a:r>
            <a:endParaRPr lang="en-US" sz="3000"/>
          </a:p>
        </p:txBody>
      </p:sp>
      <p:sp>
        <p:nvSpPr>
          <p:cNvPr id="8" name="Text 3"/>
          <p:cNvSpPr/>
          <p:nvPr/>
        </p:nvSpPr>
        <p:spPr>
          <a:xfrm>
            <a:off x="285750" y="1516410"/>
            <a:ext cx="1162050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b="1">
                <a:solidFill>
                  <a:srgbClr val="002fa7"/>
                </a:solidFill>
                <a:latin typeface="Segoe UI"/>
                <a:ea typeface="Segoe UI"/>
                <a:cs typeface="Segoe UI"/>
              </a:rPr>
              <a:t>Manual checking is slow; single-agent summaries are fast but risky.</a:t>
            </a:r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285750" y="2011710"/>
            <a:ext cx="34290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Risks this project targets:</a:t>
            </a:r>
            <a:endParaRPr lang="en-US" sz="150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657007" y="1913789"/>
            <a:ext cx="8822999" cy="4653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6225" y="276225"/>
            <a:ext cx="11639550" cy="3048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85750" y="285750"/>
            <a:ext cx="8572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PROBLEM</a:t>
            </a:r>
            <a:endParaRPr lang="en-US" sz="1200"/>
          </a:p>
        </p:txBody>
      </p:sp>
      <p:sp>
        <p:nvSpPr>
          <p:cNvPr id="6" name="Text 1"/>
          <p:cNvSpPr/>
          <p:nvPr/>
        </p:nvSpPr>
        <p:spPr>
          <a:xfrm>
            <a:off x="10577513" y="309563"/>
            <a:ext cx="1328738" cy="152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Korea Briefing Agent</a:t>
            </a:r>
            <a:endParaRPr lang="en-US" sz="900"/>
          </a:p>
        </p:txBody>
      </p:sp>
      <p:sp>
        <p:nvSpPr>
          <p:cNvPr id="7" name="Text 2"/>
          <p:cNvSpPr/>
          <p:nvPr/>
        </p:nvSpPr>
        <p:spPr>
          <a:xfrm>
            <a:off x="285750" y="876300"/>
            <a:ext cx="11620500" cy="4877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altLang="ko-KR" sz="300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When I use single AI Summary</a:t>
            </a:r>
            <a:endParaRPr lang="en-US" altLang="ko-KR" sz="3000">
              <a:solidFill>
                <a:srgbClr val="111827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8" name="Text 3"/>
          <p:cNvSpPr/>
          <p:nvPr/>
        </p:nvSpPr>
        <p:spPr>
          <a:xfrm>
            <a:off x="285750" y="1516410"/>
            <a:ext cx="1162050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altLang="ko-KR" b="1">
                <a:solidFill>
                  <a:srgbClr val="002fa7"/>
                </a:solidFill>
                <a:latin typeface="Segoe UI"/>
                <a:ea typeface="Segoe UI"/>
                <a:cs typeface="Segoe UI"/>
              </a:rPr>
              <a:t>S</a:t>
            </a:r>
            <a:r>
              <a:rPr lang="en-US" b="1">
                <a:solidFill>
                  <a:srgbClr val="002fa7"/>
                </a:solidFill>
                <a:latin typeface="Segoe UI"/>
                <a:ea typeface="Segoe UI"/>
                <a:cs typeface="Segoe UI"/>
              </a:rPr>
              <a:t>ingle-agent summaries are fast but risky.</a:t>
            </a:r>
            <a:endParaRPr lang="en-US" b="1">
              <a:solidFill>
                <a:srgbClr val="002fa7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85750" y="2036243"/>
            <a:ext cx="10593279" cy="4191585"/>
          </a:xfrm>
          <a:prstGeom prst="rect">
            <a:avLst/>
          </a:prstGeom>
        </p:spPr>
      </p:pic>
      <p:sp>
        <p:nvSpPr>
          <p:cNvPr id="16" name=""/>
          <p:cNvSpPr/>
          <p:nvPr/>
        </p:nvSpPr>
        <p:spPr>
          <a:xfrm rot="10707255">
            <a:off x="4909910" y="3236232"/>
            <a:ext cx="476250" cy="3175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7" name=""/>
          <p:cNvSpPr/>
          <p:nvPr/>
        </p:nvSpPr>
        <p:spPr>
          <a:xfrm rot="10707255">
            <a:off x="5027105" y="4100300"/>
            <a:ext cx="476250" cy="31750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18" name=""/>
          <p:cNvSpPr txBox="1"/>
          <p:nvPr/>
        </p:nvSpPr>
        <p:spPr>
          <a:xfrm>
            <a:off x="5450401" y="3229866"/>
            <a:ext cx="2924795" cy="35915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>
                <a:solidFill>
                  <a:schemeClr val="lt1"/>
                </a:solidFill>
              </a:rPr>
              <a:t>Wrong URL link</a:t>
            </a:r>
            <a:endParaRPr lang="en-US" altLang="ko-KR">
              <a:solidFill>
                <a:schemeClr val="lt1"/>
              </a:solidFill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5582389" y="4132035"/>
            <a:ext cx="2924795" cy="3618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>
                <a:solidFill>
                  <a:schemeClr val="lt1"/>
                </a:solidFill>
              </a:rPr>
              <a:t>Wrong Summery</a:t>
            </a:r>
            <a:endParaRPr lang="en-US" altLang="ko-KR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6225" y="276225"/>
            <a:ext cx="11639550" cy="3048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85750" y="285750"/>
            <a:ext cx="1047452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WORKFLOW</a:t>
            </a:r>
            <a:endParaRPr lang="en-US" sz="1200"/>
          </a:p>
        </p:txBody>
      </p:sp>
      <p:sp>
        <p:nvSpPr>
          <p:cNvPr id="8" name="Text 1"/>
          <p:cNvSpPr/>
          <p:nvPr/>
        </p:nvSpPr>
        <p:spPr>
          <a:xfrm>
            <a:off x="10577513" y="309563"/>
            <a:ext cx="1328738" cy="152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Korea Briefing Agent</a:t>
            </a:r>
            <a:endParaRPr lang="en-US" sz="900"/>
          </a:p>
        </p:txBody>
      </p:sp>
      <p:sp>
        <p:nvSpPr>
          <p:cNvPr id="9" name="Text 2"/>
          <p:cNvSpPr/>
          <p:nvPr/>
        </p:nvSpPr>
        <p:spPr>
          <a:xfrm>
            <a:off x="285750" y="876300"/>
            <a:ext cx="11620500" cy="4877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Collaborative Workflow Between Agent A and Agent B</a:t>
            </a:r>
            <a:endParaRPr lang="en-US" sz="3000"/>
          </a:p>
        </p:txBody>
      </p:sp>
      <p:sp>
        <p:nvSpPr>
          <p:cNvPr id="10" name="Text 3"/>
          <p:cNvSpPr/>
          <p:nvPr/>
        </p:nvSpPr>
        <p:spPr>
          <a:xfrm>
            <a:off x="285750" y="1430685"/>
            <a:ext cx="1162050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2fa7"/>
                </a:solidFill>
                <a:latin typeface="Segoe UI"/>
                <a:ea typeface="Segoe UI"/>
                <a:cs typeface="Segoe UI"/>
              </a:rPr>
              <a:t>Separate roles to improve reliability and accountability.</a:t>
            </a:r>
            <a:endParaRPr lang="en-US" sz="140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 rotWithShape="1">
          <a:blip r:embed="rId6"/>
          <a:srcRect l="13100" r="12670"/>
          <a:stretch>
            <a:fillRect/>
          </a:stretch>
        </p:blipFill>
        <p:spPr>
          <a:xfrm>
            <a:off x="809476" y="1672690"/>
            <a:ext cx="6673772" cy="5093287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105775" y="2881156"/>
            <a:ext cx="34385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Agent B (Collector/Reviewer)</a:t>
            </a:r>
            <a:endParaRPr lang="en-US" sz="170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052723" y="3150177"/>
            <a:ext cx="210877" cy="243319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8305800" y="3157381"/>
            <a:ext cx="3089563" cy="1732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Gather ≥15 candidates</a:t>
            </a:r>
            <a:endParaRPr lang="en-US" sz="160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052723" y="3483552"/>
            <a:ext cx="210877" cy="243319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8305800" y="3561152"/>
            <a:ext cx="3238500" cy="255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Include title, source, link, importance, trace</a:t>
            </a:r>
            <a:endParaRPr lang="en-US" sz="1600"/>
          </a:p>
        </p:txBody>
      </p:sp>
      <p:sp>
        <p:nvSpPr>
          <p:cNvPr id="17" name="Text 7"/>
          <p:cNvSpPr/>
          <p:nvPr/>
        </p:nvSpPr>
        <p:spPr>
          <a:xfrm>
            <a:off x="8105775" y="4425255"/>
            <a:ext cx="34385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Agent A (Orchestrator/Verifier)</a:t>
            </a:r>
            <a:endParaRPr lang="en-US" sz="1700"/>
          </a:p>
        </p:txBody>
      </p:sp>
      <p:sp>
        <p:nvSpPr>
          <p:cNvPr id="19" name="Text 8"/>
          <p:cNvSpPr/>
          <p:nvPr/>
        </p:nvSpPr>
        <p:spPr>
          <a:xfrm>
            <a:off x="8305800" y="4739580"/>
            <a:ext cx="2949359" cy="21327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Verify, dedupe, diversify sources</a:t>
            </a:r>
            <a:endParaRPr lang="en-US" sz="1600"/>
          </a:p>
        </p:txBody>
      </p:sp>
      <p:sp>
        <p:nvSpPr>
          <p:cNvPr id="21" name="Text 9"/>
          <p:cNvSpPr/>
          <p:nvPr/>
        </p:nvSpPr>
        <p:spPr>
          <a:xfrm>
            <a:off x="8305800" y="5076676"/>
            <a:ext cx="3238500" cy="4107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Select final 10 based on freshness, source diversity, and user relevance</a:t>
            </a:r>
            <a:endParaRPr lang="en-US" sz="1600">
              <a:solidFill>
                <a:srgbClr val="4b5563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915275" y="2715670"/>
            <a:ext cx="3914775" cy="1331409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052723" y="4743301"/>
            <a:ext cx="210877" cy="243319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052723" y="5076676"/>
            <a:ext cx="210877" cy="243319"/>
          </a:xfrm>
          <a:prstGeom prst="rect">
            <a:avLst/>
          </a:prstGeom>
        </p:spPr>
      </p:pic>
      <p:pic>
        <p:nvPicPr>
          <p:cNvPr id="25" name="Image 4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7915275" y="4308794"/>
            <a:ext cx="3914775" cy="13314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6225" y="276225"/>
            <a:ext cx="11639550" cy="304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181850" y="2197447"/>
            <a:ext cx="4511444" cy="77435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181850" y="3321397"/>
            <a:ext cx="4511444" cy="77435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181850" y="4445347"/>
            <a:ext cx="4511444" cy="77435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181850" y="5569297"/>
            <a:ext cx="4511444" cy="774352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85750" y="285750"/>
            <a:ext cx="1612999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TECHNICAL STACK</a:t>
            </a:r>
            <a:endParaRPr lang="en-US" sz="1200"/>
          </a:p>
        </p:txBody>
      </p:sp>
      <p:sp>
        <p:nvSpPr>
          <p:cNvPr id="10" name="Text 1"/>
          <p:cNvSpPr/>
          <p:nvPr/>
        </p:nvSpPr>
        <p:spPr>
          <a:xfrm>
            <a:off x="10577513" y="309563"/>
            <a:ext cx="1328738" cy="152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Korea Briefing Agent</a:t>
            </a:r>
            <a:endParaRPr lang="en-US" sz="900"/>
          </a:p>
        </p:txBody>
      </p:sp>
      <p:sp>
        <p:nvSpPr>
          <p:cNvPr id="11" name="Text 2"/>
          <p:cNvSpPr/>
          <p:nvPr/>
        </p:nvSpPr>
        <p:spPr>
          <a:xfrm>
            <a:off x="285750" y="876300"/>
            <a:ext cx="11620500" cy="4877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Technical Stack and Implementation Environment</a:t>
            </a:r>
            <a:endParaRPr lang="en-US" sz="3000"/>
          </a:p>
        </p:txBody>
      </p:sp>
      <p:sp>
        <p:nvSpPr>
          <p:cNvPr id="12" name="Text 3"/>
          <p:cNvSpPr/>
          <p:nvPr/>
        </p:nvSpPr>
        <p:spPr>
          <a:xfrm>
            <a:off x="285750" y="1440210"/>
            <a:ext cx="1162050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2fa7"/>
                </a:solidFill>
                <a:latin typeface="Segoe UI"/>
                <a:ea typeface="Segoe UI"/>
                <a:cs typeface="Segoe UI"/>
              </a:rPr>
              <a:t>Scheduled execution + tool-connected agents produce a repeatable daily run.</a:t>
            </a:r>
            <a:endParaRPr lang="en-US" sz="140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76225" y="2076450"/>
            <a:ext cx="2623499" cy="407797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285750" y="2087910"/>
            <a:ext cx="2582931" cy="262869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Runtime &amp; scheduling</a:t>
            </a:r>
            <a:endParaRPr lang="en-US" sz="170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276225" y="2495550"/>
            <a:ext cx="160007" cy="171436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476249" y="2490192"/>
            <a:ext cx="5029069" cy="22509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OpenClaw Cron: triggers daily run at 07:00 KST</a:t>
            </a:r>
            <a:endParaRPr lang="en-US" sz="160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276225" y="2800350"/>
            <a:ext cx="160007" cy="171436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476250" y="2798712"/>
            <a:ext cx="4996136" cy="2250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Hermes: agent runtime + MCP/tool connections</a:t>
            </a:r>
            <a:endParaRPr lang="en-US" sz="160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276225" y="3105150"/>
            <a:ext cx="160007" cy="171436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476250" y="3105110"/>
            <a:ext cx="5981355" cy="20958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LLM agents: GPT-5.5-based Agent A + Agent B</a:t>
            </a:r>
            <a:endParaRPr lang="en-US" sz="1600">
              <a:solidFill>
                <a:srgbClr val="4b5563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276225" y="3505200"/>
            <a:ext cx="2052582" cy="407797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285750" y="3518297"/>
            <a:ext cx="2013076" cy="262869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External systems</a:t>
            </a:r>
            <a:endParaRPr lang="en-US" sz="1700"/>
          </a:p>
        </p:txBody>
      </p:sp>
      <p:pic>
        <p:nvPicPr>
          <p:cNvPr id="23" name="Image 1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276225" y="3924300"/>
            <a:ext cx="160007" cy="171436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476250" y="3920579"/>
            <a:ext cx="4613477" cy="2250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Discord: collaboration thread + final delivery</a:t>
            </a:r>
            <a:endParaRPr lang="en-US" sz="1600"/>
          </a:p>
        </p:txBody>
      </p:sp>
      <p:pic>
        <p:nvPicPr>
          <p:cNvPr id="25" name="Image 13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276225" y="4229100"/>
            <a:ext cx="160007" cy="171436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476249" y="4229100"/>
            <a:ext cx="6985269" cy="2250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Web search / news feeds: candidate collection + freshness checks</a:t>
            </a:r>
            <a:endParaRPr lang="en-US" sz="1600"/>
          </a:p>
        </p:txBody>
      </p:sp>
      <p:pic>
        <p:nvPicPr>
          <p:cNvPr id="27" name="Image 14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276225" y="4543425"/>
            <a:ext cx="160007" cy="171436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476249" y="4537620"/>
            <a:ext cx="3902891" cy="2250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Web open/extract: source verification</a:t>
            </a:r>
            <a:endParaRPr lang="en-US" sz="1600"/>
          </a:p>
        </p:txBody>
      </p:sp>
      <p:pic>
        <p:nvPicPr>
          <p:cNvPr id="29" name="Image 15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276225" y="4848225"/>
            <a:ext cx="160007" cy="171436"/>
          </a:xfrm>
          <a:prstGeom prst="rect">
            <a:avLst/>
          </a:prstGeom>
        </p:spPr>
      </p:pic>
      <p:sp>
        <p:nvSpPr>
          <p:cNvPr id="30" name="Text 12"/>
          <p:cNvSpPr/>
          <p:nvPr/>
        </p:nvSpPr>
        <p:spPr>
          <a:xfrm>
            <a:off x="476250" y="4846141"/>
            <a:ext cx="4276736" cy="2250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Local filesystem: mandatory backup logs</a:t>
            </a:r>
            <a:endParaRPr lang="en-US" sz="1600"/>
          </a:p>
        </p:txBody>
      </p:sp>
      <p:pic>
        <p:nvPicPr>
          <p:cNvPr id="31" name="Image 16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276225" y="5153025"/>
            <a:ext cx="160007" cy="171436"/>
          </a:xfrm>
          <a:prstGeom prst="rect">
            <a:avLst/>
          </a:prstGeom>
        </p:spPr>
      </p:pic>
      <p:sp>
        <p:nvSpPr>
          <p:cNvPr id="32" name="Text 13"/>
          <p:cNvSpPr/>
          <p:nvPr/>
        </p:nvSpPr>
        <p:spPr>
          <a:xfrm>
            <a:off x="476250" y="5154662"/>
            <a:ext cx="3247037" cy="2250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Notion: structured workflow log</a:t>
            </a:r>
            <a:endParaRPr lang="en-US" sz="1600"/>
          </a:p>
        </p:txBody>
      </p:sp>
      <p:pic>
        <p:nvPicPr>
          <p:cNvPr id="33" name="Image 17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276225" y="5467350"/>
            <a:ext cx="160007" cy="171436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>
            <a:off x="476250" y="5463182"/>
            <a:ext cx="4190465" cy="2250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AGENTS.md: rules + safety instructions</a:t>
            </a:r>
            <a:endParaRPr lang="en-US" sz="1600"/>
          </a:p>
        </p:txBody>
      </p:sp>
      <p:pic>
        <p:nvPicPr>
          <p:cNvPr id="35" name="Image 18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7353300" y="2468767"/>
            <a:ext cx="381564" cy="303007"/>
          </a:xfrm>
          <a:prstGeom prst="rect">
            <a:avLst/>
          </a:prstGeom>
        </p:spPr>
      </p:pic>
      <p:sp>
        <p:nvSpPr>
          <p:cNvPr id="36" name="Text 15"/>
          <p:cNvSpPr/>
          <p:nvPr/>
        </p:nvSpPr>
        <p:spPr>
          <a:xfrm>
            <a:off x="7820026" y="2432550"/>
            <a:ext cx="1578163" cy="2020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Schedule</a:t>
            </a:r>
            <a:endParaRPr lang="en-US" sz="1500"/>
          </a:p>
        </p:txBody>
      </p:sp>
      <p:sp>
        <p:nvSpPr>
          <p:cNvPr id="37" name="Text 16"/>
          <p:cNvSpPr/>
          <p:nvPr/>
        </p:nvSpPr>
        <p:spPr>
          <a:xfrm>
            <a:off x="7820026" y="2652285"/>
            <a:ext cx="2130078" cy="11949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OpenClaw Cron (07:00 KST)</a:t>
            </a:r>
            <a:endParaRPr lang="en-US" sz="1100"/>
          </a:p>
        </p:txBody>
      </p:sp>
      <p:pic>
        <p:nvPicPr>
          <p:cNvPr id="38" name="Image 19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9010650" y="3056582"/>
            <a:ext cx="202004" cy="258117"/>
          </a:xfrm>
          <a:prstGeom prst="rect">
            <a:avLst/>
          </a:prstGeom>
        </p:spPr>
      </p:pic>
      <p:pic>
        <p:nvPicPr>
          <p:cNvPr id="39" name="Image 20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7353300" y="3592717"/>
            <a:ext cx="381564" cy="303007"/>
          </a:xfrm>
          <a:prstGeom prst="rect">
            <a:avLst/>
          </a:prstGeom>
        </p:spPr>
      </p:pic>
      <p:sp>
        <p:nvSpPr>
          <p:cNvPr id="40" name="Text 17"/>
          <p:cNvSpPr/>
          <p:nvPr/>
        </p:nvSpPr>
        <p:spPr>
          <a:xfrm>
            <a:off x="7820025" y="3556500"/>
            <a:ext cx="1368793" cy="2020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Agents</a:t>
            </a:r>
            <a:endParaRPr lang="en-US" sz="1500"/>
          </a:p>
        </p:txBody>
      </p:sp>
      <p:sp>
        <p:nvSpPr>
          <p:cNvPr id="41" name="Text 18"/>
          <p:cNvSpPr/>
          <p:nvPr/>
        </p:nvSpPr>
        <p:spPr>
          <a:xfrm>
            <a:off x="7820025" y="3776235"/>
            <a:ext cx="2401410" cy="14806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Hermes Runtime + LLMs</a:t>
            </a:r>
            <a:endParaRPr lang="en-US" sz="1100"/>
          </a:p>
        </p:txBody>
      </p:sp>
      <p:pic>
        <p:nvPicPr>
          <p:cNvPr id="42" name="Image 21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9010650" y="4180532"/>
            <a:ext cx="202004" cy="258117"/>
          </a:xfrm>
          <a:prstGeom prst="rect">
            <a:avLst/>
          </a:prstGeom>
        </p:spPr>
      </p:pic>
      <p:pic>
        <p:nvPicPr>
          <p:cNvPr id="43" name="Image 22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7353300" y="4716667"/>
            <a:ext cx="381564" cy="303007"/>
          </a:xfrm>
          <a:prstGeom prst="rect">
            <a:avLst/>
          </a:prstGeom>
        </p:spPr>
      </p:pic>
      <p:sp>
        <p:nvSpPr>
          <p:cNvPr id="44" name="Text 19"/>
          <p:cNvSpPr/>
          <p:nvPr/>
        </p:nvSpPr>
        <p:spPr>
          <a:xfrm>
            <a:off x="7820025" y="4680450"/>
            <a:ext cx="2301673" cy="20200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MCP / Tools</a:t>
            </a:r>
            <a:endParaRPr lang="en-US" sz="1500"/>
          </a:p>
        </p:txBody>
      </p:sp>
      <p:sp>
        <p:nvSpPr>
          <p:cNvPr id="45" name="Text 20"/>
          <p:cNvSpPr/>
          <p:nvPr/>
        </p:nvSpPr>
        <p:spPr>
          <a:xfrm>
            <a:off x="7820025" y="4900185"/>
            <a:ext cx="2757488" cy="22367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Web, File, Notion</a:t>
            </a:r>
            <a:endParaRPr lang="en-US" sz="1100"/>
          </a:p>
        </p:txBody>
      </p:sp>
      <p:pic>
        <p:nvPicPr>
          <p:cNvPr id="46" name="Image 23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9010650" y="5304482"/>
            <a:ext cx="202004" cy="258117"/>
          </a:xfrm>
          <a:prstGeom prst="rect">
            <a:avLst/>
          </a:prstGeom>
        </p:spPr>
      </p:pic>
      <p:pic>
        <p:nvPicPr>
          <p:cNvPr id="47" name="Image 24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7353300" y="5840617"/>
            <a:ext cx="381564" cy="303007"/>
          </a:xfrm>
          <a:prstGeom prst="rect">
            <a:avLst/>
          </a:prstGeom>
        </p:spPr>
      </p:pic>
      <p:sp>
        <p:nvSpPr>
          <p:cNvPr id="48" name="Text 21"/>
          <p:cNvSpPr/>
          <p:nvPr/>
        </p:nvSpPr>
        <p:spPr>
          <a:xfrm>
            <a:off x="7820025" y="5785350"/>
            <a:ext cx="1471725" cy="2020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Outputs / Logs</a:t>
            </a:r>
            <a:endParaRPr lang="en-US" sz="1500"/>
          </a:p>
        </p:txBody>
      </p:sp>
      <p:sp>
        <p:nvSpPr>
          <p:cNvPr id="49" name="Text 22"/>
          <p:cNvSpPr/>
          <p:nvPr/>
        </p:nvSpPr>
        <p:spPr>
          <a:xfrm>
            <a:off x="7820026" y="6024135"/>
            <a:ext cx="3741702" cy="13467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Discord Briefing + Records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6225" y="276225"/>
            <a:ext cx="11639550" cy="3048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85750" y="285750"/>
            <a:ext cx="1612999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TECHNICAL STACK</a:t>
            </a:r>
            <a:endParaRPr lang="en-US" sz="1200"/>
          </a:p>
        </p:txBody>
      </p:sp>
      <p:sp>
        <p:nvSpPr>
          <p:cNvPr id="7" name="Text 1"/>
          <p:cNvSpPr/>
          <p:nvPr/>
        </p:nvSpPr>
        <p:spPr>
          <a:xfrm>
            <a:off x="10577513" y="309563"/>
            <a:ext cx="1328738" cy="152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Korea Briefing Agent</a:t>
            </a:r>
            <a:endParaRPr lang="en-US" sz="900"/>
          </a:p>
        </p:txBody>
      </p:sp>
      <p:sp>
        <p:nvSpPr>
          <p:cNvPr id="8" name="Text 2"/>
          <p:cNvSpPr/>
          <p:nvPr/>
        </p:nvSpPr>
        <p:spPr>
          <a:xfrm>
            <a:off x="285750" y="876300"/>
            <a:ext cx="11620500" cy="4877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MCP Server and Tool Layer</a:t>
            </a:r>
            <a:endParaRPr lang="en-US" sz="3000"/>
          </a:p>
        </p:txBody>
      </p:sp>
      <p:sp>
        <p:nvSpPr>
          <p:cNvPr id="9" name="Text 3"/>
          <p:cNvSpPr/>
          <p:nvPr/>
        </p:nvSpPr>
        <p:spPr>
          <a:xfrm>
            <a:off x="285750" y="1440210"/>
            <a:ext cx="1162050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2fa7"/>
                </a:solidFill>
                <a:latin typeface="Segoe UI"/>
                <a:ea typeface="Segoe UI"/>
                <a:cs typeface="Segoe UI"/>
              </a:rPr>
              <a:t>MCP servers allow agents to search, verify, log, and deliver real outputs.</a:t>
            </a:r>
            <a:endParaRPr lang="en-US" sz="1400" b="1">
              <a:solidFill>
                <a:srgbClr val="002fa7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99923" y="1706910"/>
            <a:ext cx="8456873" cy="4914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6225" y="276225"/>
            <a:ext cx="11639550" cy="3048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85750" y="285750"/>
            <a:ext cx="164470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QUALITY CONTROL</a:t>
            </a:r>
            <a:endParaRPr lang="en-US" sz="1200"/>
          </a:p>
        </p:txBody>
      </p:sp>
      <p:sp>
        <p:nvSpPr>
          <p:cNvPr id="10" name="Text 1"/>
          <p:cNvSpPr/>
          <p:nvPr/>
        </p:nvSpPr>
        <p:spPr>
          <a:xfrm>
            <a:off x="10577513" y="309563"/>
            <a:ext cx="1328738" cy="152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Korea Briefing Agent</a:t>
            </a:r>
            <a:endParaRPr lang="en-US" sz="900"/>
          </a:p>
        </p:txBody>
      </p:sp>
      <p:sp>
        <p:nvSpPr>
          <p:cNvPr id="24" name="TextBox 38"/>
          <p:cNvSpPr txBox="1"/>
          <p:nvPr/>
        </p:nvSpPr>
        <p:spPr>
          <a:xfrm>
            <a:off x="692359" y="428625"/>
            <a:ext cx="10807282" cy="10191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p>
            <a:pPr marL="0" indent="0" algn="ctr" defTabSz="914400" rtl="0" eaLnBrk="1" latinLnBrk="0" hangingPunct="1">
              <a:lnSpc>
                <a:spcPts val="798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sz="3000" b="0" i="0" u="none" strike="noStrike" kern="1200" cap="none" spc="0" normalizeH="0" baseline="0" mc:Ignorable="hp" hp:hslEmbossed="0">
                <a:solidFill>
                  <a:srgbClr val="313343"/>
                </a:solidFill>
                <a:latin typeface="Seoul Namsan Condensed Bold"/>
                <a:ea typeface="Seoul Namsan Condensed Bold"/>
                <a:cs typeface="Seoul Namsan Condensed Bold"/>
                <a:sym typeface="Seoul Namsan Condensed Bold"/>
              </a:rPr>
              <a:t>Quality Control and Verification Rules</a:t>
            </a:r>
            <a:endParaRPr xmlns:mc="http://schemas.openxmlformats.org/markup-compatibility/2006" xmlns:hp="http://schemas.haansoft.com/office/presentation/8.0" kumimoji="0" lang="en-US" sz="3000" b="0" i="0" u="none" strike="noStrike" kern="1200" cap="none" spc="0" normalizeH="0" baseline="0" mc:Ignorable="hp" hp:hslEmbossed="0">
              <a:solidFill>
                <a:srgbClr val="313343"/>
              </a:solidFill>
              <a:latin typeface="Seoul Namsan Condensed Bold"/>
              <a:ea typeface="Seoul Namsan Condensed Bold"/>
              <a:cs typeface="Seoul Namsan Condensed Bold"/>
              <a:sym typeface="Seoul Namsan Condensed Bold"/>
            </a:endParaRPr>
          </a:p>
        </p:txBody>
      </p:sp>
      <p:sp>
        <p:nvSpPr>
          <p:cNvPr id="25" name="TextBox 39"/>
          <p:cNvSpPr txBox="1"/>
          <p:nvPr/>
        </p:nvSpPr>
        <p:spPr>
          <a:xfrm>
            <a:off x="285750" y="1487953"/>
            <a:ext cx="11620502" cy="1188572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p>
            <a:pPr marL="649794" lvl="1" indent="-324897" algn="l" defTabSz="914400" rtl="0" eaLnBrk="1" latinLnBrk="0" hangingPunct="1">
              <a:lnSpc>
                <a:spcPts val="5116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sz="1600" b="0" i="0" u="none" strike="noStrike" kern="1200" cap="none" spc="0" normalizeH="0" baseline="0" mc:Ignorable="hp" hp:hslEmbossed="0">
                <a:solidFill>
                  <a:srgbClr val="313343"/>
                </a:solidFill>
                <a:latin typeface="Seoul Namsan Condensed Bold"/>
                <a:ea typeface="Seoul Namsan Condensed Bold"/>
                <a:cs typeface="Seoul Namsan Condensed Bold"/>
                <a:sym typeface="Seoul Namsan Condensed Bold"/>
              </a:rPr>
              <a:t>The final briefing is not generated directly from a single AI response.</a:t>
            </a:r>
            <a:endParaRPr xmlns:mc="http://schemas.openxmlformats.org/markup-compatibility/2006" xmlns:hp="http://schemas.haansoft.com/office/presentation/8.0" kumimoji="0" lang="en-US" sz="1600" b="0" i="0" u="none" strike="noStrike" kern="1200" cap="none" spc="0" normalizeH="0" baseline="0" mc:Ignorable="hp" hp:hslEmbossed="0">
              <a:solidFill>
                <a:srgbClr val="313343"/>
              </a:solidFill>
              <a:latin typeface="Seoul Namsan Condensed Bold"/>
              <a:ea typeface="Seoul Namsan Condensed Bold"/>
              <a:cs typeface="Seoul Namsan Condensed Bold"/>
              <a:sym typeface="Seoul Namsan Condensed Bold"/>
            </a:endParaRPr>
          </a:p>
          <a:p>
            <a:pPr marL="649794" lvl="1" indent="-324897" defTabSz="914400">
              <a:lnSpc>
                <a:spcPts val="4300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sz="1600" b="0" i="0" u="none" strike="noStrike" kern="1200" cap="none" spc="0" normalizeH="0" baseline="0" mc:Ignorable="hp" hp:hslEmbossed="0">
                <a:solidFill>
                  <a:srgbClr val="313343"/>
                </a:solidFill>
                <a:latin typeface="Seoul Namsan Condensed Bold"/>
                <a:ea typeface="Seoul Namsan Condensed Bold"/>
                <a:cs typeface="Seoul Namsan Condensed Bold"/>
                <a:sym typeface="Seoul Namsan Condensed Bold"/>
              </a:rPr>
              <a:t>Instead, the system uses a</a:t>
            </a:r>
            <a:r>
              <a:rPr lang="en-US" sz="1600">
                <a:solidFill>
                  <a:srgbClr val="313343"/>
                </a:solidFill>
                <a:latin typeface="Seoul Namsan Condensed Bold"/>
                <a:ea typeface="Seoul Namsan Condensed Bold"/>
                <a:cs typeface="Seoul Namsan Condensed Bold"/>
                <a:sym typeface="Seoul Namsan Condensed Bold"/>
              </a:rPr>
              <a:t> </a:t>
            </a:r>
            <a:r>
              <a:rPr xmlns:mc="http://schemas.openxmlformats.org/markup-compatibility/2006" xmlns:hp="http://schemas.haansoft.com/office/presentation/8.0" kumimoji="0" lang="en-US" sz="1600" b="0" i="0" u="none" strike="noStrike" kern="1200" cap="none" spc="0" normalizeH="0" baseline="0" mc:Ignorable="hp" hp:hslEmbossed="0">
                <a:solidFill>
                  <a:srgbClr val="313343"/>
                </a:solidFill>
                <a:latin typeface="Seoul Namsan Condensed Bold"/>
                <a:ea typeface="Seoul Namsan Condensed Bold"/>
                <a:cs typeface="Seoul Namsan Condensed Bold"/>
                <a:sym typeface="Seoul Namsan Condensed Bold"/>
              </a:rPr>
              <a:t>larger candidate pool and multiple verification steps before selecting the final 10 news items.</a:t>
            </a:r>
            <a:endParaRPr xmlns:mc="http://schemas.openxmlformats.org/markup-compatibility/2006" xmlns:hp="http://schemas.haansoft.com/office/presentation/8.0" kumimoji="0" lang="en-US" sz="1600" b="0" i="0" u="none" strike="noStrike" kern="1200" cap="none" spc="0" normalizeH="0" baseline="0" mc:Ignorable="hp" hp:hslEmbossed="0">
              <a:solidFill>
                <a:srgbClr val="313343"/>
              </a:solidFill>
              <a:latin typeface="Seoul Namsan Condensed Bold"/>
              <a:ea typeface="Seoul Namsan Condensed Bold"/>
              <a:cs typeface="Seoul Namsan Condensed Bold"/>
              <a:sym typeface="Seoul Namsan Condensed Bold"/>
            </a:endParaRPr>
          </a:p>
        </p:txBody>
      </p:sp>
      <p:sp>
        <p:nvSpPr>
          <p:cNvPr id="26" name="Freeform 37"/>
          <p:cNvSpPr/>
          <p:nvPr/>
        </p:nvSpPr>
        <p:spPr>
          <a:xfrm>
            <a:off x="1825152" y="2781300"/>
            <a:ext cx="8541697" cy="3918503"/>
          </a:xfrm>
          <a:custGeom>
            <a:avLst/>
            <a:gdLst/>
            <a:rect l="l" t="t" r="r" b="b"/>
            <a:pathLst>
              <a:path w="11997553" h="5503878">
                <a:moveTo>
                  <a:pt x="0" y="0"/>
                </a:moveTo>
                <a:lnTo>
                  <a:pt x="11997553" y="0"/>
                </a:lnTo>
                <a:lnTo>
                  <a:pt x="11997553" y="5503877"/>
                </a:lnTo>
                <a:lnTo>
                  <a:pt x="0" y="5503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</p:spPr>
        <p:txBody>
          <a:bodyPr anchor="ctr"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6225" y="276225"/>
            <a:ext cx="11639550" cy="3048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85750" y="285750"/>
            <a:ext cx="809625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LOGGING</a:t>
            </a:r>
            <a:endParaRPr lang="en-US" sz="1200"/>
          </a:p>
        </p:txBody>
      </p:sp>
      <p:sp>
        <p:nvSpPr>
          <p:cNvPr id="10" name="Text 1"/>
          <p:cNvSpPr/>
          <p:nvPr/>
        </p:nvSpPr>
        <p:spPr>
          <a:xfrm>
            <a:off x="10577513" y="309563"/>
            <a:ext cx="1328738" cy="152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Korea Briefing Agent</a:t>
            </a:r>
            <a:endParaRPr lang="en-US" sz="900"/>
          </a:p>
        </p:txBody>
      </p:sp>
      <p:sp>
        <p:nvSpPr>
          <p:cNvPr id="11" name="Text 2"/>
          <p:cNvSpPr/>
          <p:nvPr/>
        </p:nvSpPr>
        <p:spPr>
          <a:xfrm>
            <a:off x="3700760" y="876300"/>
            <a:ext cx="4790331" cy="4877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300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Logging and Traceability</a:t>
            </a:r>
            <a:endParaRPr lang="en-US" sz="3000"/>
          </a:p>
        </p:txBody>
      </p:sp>
      <p:sp>
        <p:nvSpPr>
          <p:cNvPr id="13" name="Text 4"/>
          <p:cNvSpPr/>
          <p:nvPr/>
        </p:nvSpPr>
        <p:spPr>
          <a:xfrm>
            <a:off x="3462709" y="1603761"/>
            <a:ext cx="5266581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b="1">
                <a:solidFill>
                  <a:srgbClr val="002fa7"/>
                </a:solidFill>
                <a:latin typeface="Segoe UI"/>
                <a:ea typeface="Segoe UI"/>
                <a:cs typeface="Segoe UI"/>
              </a:rPr>
              <a:t>We log the process, not just the final answer.</a:t>
            </a:r>
            <a:endParaRPr lang="en-US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09550" y="2600325"/>
            <a:ext cx="2100573" cy="28575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219074" y="2583210"/>
            <a:ext cx="3081636" cy="22893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What gets recorded</a:t>
            </a:r>
            <a:endParaRPr lang="en-US" sz="210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09550" y="3019425"/>
            <a:ext cx="133350" cy="142875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409575" y="2983260"/>
            <a:ext cx="6024562" cy="4457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Tools used, workflow path, candidate pool reference, selection decisions, verification results, errors</a:t>
            </a:r>
            <a:endParaRPr lang="en-US" sz="200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09550" y="3771900"/>
            <a:ext cx="1809038" cy="28575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219074" y="3781276"/>
            <a:ext cx="2645621" cy="22893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Fail-safe logging</a:t>
            </a:r>
            <a:endParaRPr lang="en-US" sz="210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09550" y="4352925"/>
            <a:ext cx="133350" cy="142875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428625" y="4324201"/>
            <a:ext cx="5256591" cy="22287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Local filesystem log is mandatory (backup)</a:t>
            </a:r>
            <a:endParaRPr lang="en-US" sz="200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09550" y="4946810"/>
            <a:ext cx="123825" cy="142875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419100" y="4912282"/>
            <a:ext cx="4833982" cy="22287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Notion log for structured review </a:t>
            </a:r>
            <a:endParaRPr lang="en-US" sz="2000">
              <a:solidFill>
                <a:srgbClr val="4b5563"/>
              </a:solidFill>
              <a:latin typeface="Segoe UI"/>
              <a:ea typeface="Segoe UI"/>
              <a:cs typeface="Segoe UI"/>
            </a:endParaRPr>
          </a:p>
          <a:p>
            <a:pPr marL="0" indent="0">
              <a:buNone/>
              <a:defRPr/>
            </a:pPr>
            <a:r>
              <a:rPr lang="en-US" sz="20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(date page → task log page)</a:t>
            </a:r>
            <a:endParaRPr lang="en-US" sz="2000"/>
          </a:p>
        </p:txBody>
      </p:sp>
      <p:sp>
        <p:nvSpPr>
          <p:cNvPr id="31" name="Freeform 37"/>
          <p:cNvSpPr/>
          <p:nvPr/>
        </p:nvSpPr>
        <p:spPr>
          <a:xfrm>
            <a:off x="6373822" y="2314636"/>
            <a:ext cx="5818177" cy="4362327"/>
          </a:xfrm>
          <a:custGeom>
            <a:avLst/>
            <a:gdLst/>
            <a:rect l="l" t="t" r="r" b="b"/>
            <a:pathLst>
              <a:path w="9005525" h="6754144">
                <a:moveTo>
                  <a:pt x="0" y="0"/>
                </a:moveTo>
                <a:lnTo>
                  <a:pt x="9005525" y="0"/>
                </a:lnTo>
                <a:lnTo>
                  <a:pt x="9005525" y="6754144"/>
                </a:lnTo>
                <a:lnTo>
                  <a:pt x="0" y="6754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/>
            <a:stretch>
              <a:fillRect/>
            </a:stretch>
          </a:blipFill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6225" y="276225"/>
            <a:ext cx="11639550" cy="3048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85750" y="285750"/>
            <a:ext cx="7874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RESULTS</a:t>
            </a:r>
            <a:endParaRPr lang="en-US" sz="1200"/>
          </a:p>
        </p:txBody>
      </p:sp>
      <p:sp>
        <p:nvSpPr>
          <p:cNvPr id="11" name="Text 1"/>
          <p:cNvSpPr/>
          <p:nvPr/>
        </p:nvSpPr>
        <p:spPr>
          <a:xfrm>
            <a:off x="10577513" y="309563"/>
            <a:ext cx="1328738" cy="152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Korea Briefing Agent</a:t>
            </a:r>
            <a:endParaRPr lang="en-US" sz="900"/>
          </a:p>
        </p:txBody>
      </p:sp>
      <p:sp>
        <p:nvSpPr>
          <p:cNvPr id="12" name="Text 2"/>
          <p:cNvSpPr/>
          <p:nvPr/>
        </p:nvSpPr>
        <p:spPr>
          <a:xfrm>
            <a:off x="285750" y="876300"/>
            <a:ext cx="11620500" cy="4877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Results: Discord-ready Briefing Output</a:t>
            </a:r>
            <a:endParaRPr lang="en-US" sz="3000">
              <a:solidFill>
                <a:srgbClr val="111827"/>
              </a:solidFill>
              <a:latin typeface="Georgia"/>
              <a:ea typeface="Georgia"/>
              <a:cs typeface="Georgia"/>
            </a:endParaRPr>
          </a:p>
        </p:txBody>
      </p:sp>
      <p:pic>
        <p:nvPicPr>
          <p:cNvPr id="46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76225" y="1364010"/>
            <a:ext cx="4013143" cy="4305008"/>
          </a:xfrm>
          <a:prstGeom prst="rect">
            <a:avLst/>
          </a:prstGeom>
        </p:spPr>
      </p:pic>
      <p:pic>
        <p:nvPicPr>
          <p:cNvPr id="47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270318" y="1364010"/>
            <a:ext cx="3976660" cy="4970825"/>
          </a:xfrm>
          <a:prstGeom prst="rect">
            <a:avLst/>
          </a:prstGeom>
        </p:spPr>
      </p:pic>
      <p:pic>
        <p:nvPicPr>
          <p:cNvPr id="48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178452" y="1364010"/>
            <a:ext cx="4004022" cy="44965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276225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6225" y="276225"/>
            <a:ext cx="11639550" cy="3048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85750" y="285750"/>
            <a:ext cx="787450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RESULTS</a:t>
            </a:r>
            <a:endParaRPr lang="en-US" sz="1200"/>
          </a:p>
        </p:txBody>
      </p:sp>
      <p:sp>
        <p:nvSpPr>
          <p:cNvPr id="11" name="Text 1"/>
          <p:cNvSpPr/>
          <p:nvPr/>
        </p:nvSpPr>
        <p:spPr>
          <a:xfrm>
            <a:off x="10577513" y="309563"/>
            <a:ext cx="1328738" cy="152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Korea Briefing Agent</a:t>
            </a:r>
            <a:endParaRPr lang="en-US" sz="900"/>
          </a:p>
        </p:txBody>
      </p:sp>
      <p:sp>
        <p:nvSpPr>
          <p:cNvPr id="12" name="Text 2"/>
          <p:cNvSpPr/>
          <p:nvPr/>
        </p:nvSpPr>
        <p:spPr>
          <a:xfrm>
            <a:off x="285750" y="876300"/>
            <a:ext cx="11620500" cy="4877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Results: Notion Log and Execution Evidence</a:t>
            </a:r>
            <a:endParaRPr lang="en-US" sz="3000">
              <a:solidFill>
                <a:srgbClr val="111827"/>
              </a:solidFill>
              <a:latin typeface="Georgia"/>
              <a:ea typeface="Georgia"/>
              <a:cs typeface="Georgia"/>
            </a:endParaRPr>
          </a:p>
        </p:txBody>
      </p:sp>
      <p:pic>
        <p:nvPicPr>
          <p:cNvPr id="51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354928" y="4016260"/>
            <a:ext cx="4286848" cy="3448531"/>
          </a:xfrm>
          <a:prstGeom prst="rect">
            <a:avLst/>
          </a:prstGeom>
        </p:spPr>
      </p:pic>
      <p:pic>
        <p:nvPicPr>
          <p:cNvPr id="52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854999" y="4664050"/>
            <a:ext cx="4791743" cy="2800741"/>
          </a:xfrm>
          <a:prstGeom prst="rect">
            <a:avLst/>
          </a:prstGeom>
        </p:spPr>
      </p:pic>
      <p:sp>
        <p:nvSpPr>
          <p:cNvPr id="53" name=""/>
          <p:cNvSpPr txBox="1"/>
          <p:nvPr/>
        </p:nvSpPr>
        <p:spPr>
          <a:xfrm>
            <a:off x="5517999" y="581025"/>
            <a:ext cx="6674000" cy="36533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https://app.notion.com/p/373c3a395860805589fdfd73bf6303b6</a:t>
            </a:r>
            <a:endParaRPr lang="en-US" altLang="ko-KR"/>
          </a:p>
        </p:txBody>
      </p:sp>
      <p:pic>
        <p:nvPicPr>
          <p:cNvPr id="57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46060" y="1364010"/>
            <a:ext cx="10017736" cy="2652250"/>
          </a:xfrm>
          <a:prstGeom prst="rect">
            <a:avLst/>
          </a:prstGeom>
        </p:spPr>
      </p:pic>
      <p:pic>
        <p:nvPicPr>
          <p:cNvPr id="58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46060" y="4016260"/>
            <a:ext cx="5163221" cy="1321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6225" y="276225"/>
            <a:ext cx="11639550" cy="3048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85750" y="285750"/>
            <a:ext cx="1285726" cy="2000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FUTURE WORK</a:t>
            </a:r>
            <a:endParaRPr lang="en-US" sz="1200"/>
          </a:p>
        </p:txBody>
      </p:sp>
      <p:sp>
        <p:nvSpPr>
          <p:cNvPr id="6" name="Text 1"/>
          <p:cNvSpPr/>
          <p:nvPr/>
        </p:nvSpPr>
        <p:spPr>
          <a:xfrm>
            <a:off x="10577513" y="309563"/>
            <a:ext cx="1328738" cy="152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Korea Briefing Agent</a:t>
            </a:r>
            <a:endParaRPr lang="en-US" sz="900"/>
          </a:p>
        </p:txBody>
      </p:sp>
      <p:sp>
        <p:nvSpPr>
          <p:cNvPr id="7" name="Text 2"/>
          <p:cNvSpPr/>
          <p:nvPr/>
        </p:nvSpPr>
        <p:spPr>
          <a:xfrm>
            <a:off x="285750" y="876300"/>
            <a:ext cx="11620500" cy="4877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Future Improvements</a:t>
            </a:r>
            <a:endParaRPr lang="en-US" sz="3000"/>
          </a:p>
        </p:txBody>
      </p:sp>
      <p:sp>
        <p:nvSpPr>
          <p:cNvPr id="8" name="Text 3"/>
          <p:cNvSpPr/>
          <p:nvPr/>
        </p:nvSpPr>
        <p:spPr>
          <a:xfrm>
            <a:off x="285750" y="1440210"/>
            <a:ext cx="11620500" cy="2667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2fa7"/>
                </a:solidFill>
                <a:latin typeface="Segoe UI"/>
                <a:ea typeface="Segoe UI"/>
                <a:cs typeface="Segoe UI"/>
              </a:rPr>
              <a:t>Extend from daily news to research briefing—and add tamper-evident auditability.</a:t>
            </a:r>
            <a:endParaRPr lang="en-US" sz="140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76225" y="2247900"/>
            <a:ext cx="946414" cy="965343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85825" y="1962150"/>
            <a:ext cx="10042739" cy="1493812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76225" y="3867150"/>
            <a:ext cx="946414" cy="965343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85825" y="3533775"/>
            <a:ext cx="10042739" cy="149381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76225" y="5486400"/>
            <a:ext cx="946414" cy="965343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85825" y="5162550"/>
            <a:ext cx="10042739" cy="1511810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390525" y="2483773"/>
            <a:ext cx="492135" cy="435350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1085850" y="2240310"/>
            <a:ext cx="9842714" cy="340709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Now: Academic paper search</a:t>
            </a:r>
            <a:endParaRPr lang="en-US" sz="1900"/>
          </a:p>
        </p:txBody>
      </p:sp>
      <p:sp>
        <p:nvSpPr>
          <p:cNvPr id="18" name="Text 5"/>
          <p:cNvSpPr/>
          <p:nvPr/>
        </p:nvSpPr>
        <p:spPr>
          <a:xfrm>
            <a:off x="1085850" y="2602260"/>
            <a:ext cx="9842714" cy="42381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9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Search </a:t>
            </a:r>
            <a:r>
              <a:rPr lang="en-US" altLang="ko-KR" sz="19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I</a:t>
            </a:r>
            <a:r>
              <a:rPr lang="en-US" sz="19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EEE/ACM</a:t>
            </a:r>
            <a:r>
              <a:rPr lang="en-US" altLang="ko-KR" sz="19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/..</a:t>
            </a:r>
            <a:r>
              <a:rPr lang="en-US" sz="19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 for </a:t>
            </a:r>
            <a:r>
              <a:rPr lang="en-US" altLang="ko-KR" sz="19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my research area.</a:t>
            </a:r>
            <a:endParaRPr lang="en-US" altLang="ko-KR" sz="1900">
              <a:solidFill>
                <a:srgbClr val="4b5563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409575" y="4132146"/>
            <a:ext cx="416422" cy="43535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1085850" y="3815655"/>
            <a:ext cx="9842714" cy="340709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Next: Agent behavior tracking</a:t>
            </a:r>
            <a:endParaRPr lang="en-US" sz="1900"/>
          </a:p>
        </p:txBody>
      </p:sp>
      <p:sp>
        <p:nvSpPr>
          <p:cNvPr id="21" name="Text 7"/>
          <p:cNvSpPr/>
          <p:nvPr/>
        </p:nvSpPr>
        <p:spPr>
          <a:xfrm>
            <a:off x="1085850" y="4234755"/>
            <a:ext cx="9842714" cy="42381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9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Track sources checked, rejected candidates, and selection rationale</a:t>
            </a:r>
            <a:endParaRPr lang="en-US" sz="190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380999" y="5734050"/>
            <a:ext cx="529992" cy="43535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1085850" y="5476726"/>
            <a:ext cx="9842714" cy="340709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111827"/>
                </a:solidFill>
                <a:latin typeface="Segoe UI"/>
                <a:ea typeface="Segoe UI"/>
                <a:cs typeface="Segoe UI"/>
              </a:rPr>
              <a:t>Later: Blockchain-based verification</a:t>
            </a:r>
            <a:endParaRPr lang="en-US" sz="1900"/>
          </a:p>
        </p:txBody>
      </p:sp>
      <p:sp>
        <p:nvSpPr>
          <p:cNvPr id="24" name="Text 9"/>
          <p:cNvSpPr/>
          <p:nvPr/>
        </p:nvSpPr>
        <p:spPr>
          <a:xfrm>
            <a:off x="1085850" y="5895826"/>
            <a:ext cx="9842714" cy="42381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9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Store hashes of briefing + links + logs + traces; detect post-edit changes</a:t>
            </a:r>
            <a:endParaRPr lang="en-US" sz="1900">
              <a:solidFill>
                <a:srgbClr val="4b5563"/>
              </a:solidFill>
              <a:latin typeface="Segoe UI"/>
              <a:ea typeface="Segoe UI"/>
              <a:cs typeface="Segoe UI"/>
            </a:endParaRPr>
          </a:p>
          <a:p>
            <a:pPr marL="0" indent="0">
              <a:buNone/>
              <a:defRPr/>
            </a:pPr>
            <a:r>
              <a:rPr lang="en-US" sz="1900">
                <a:solidFill>
                  <a:srgbClr val="4b5563"/>
                </a:solidFill>
                <a:latin typeface="Segoe UI"/>
                <a:ea typeface="Segoe UI"/>
                <a:cs typeface="Segoe UI"/>
              </a:rPr>
              <a:t>This can make AI-generated information tamper-evident and auditable.</a:t>
            </a:r>
            <a:endParaRPr lang="en-US" sz="1900">
              <a:solidFill>
                <a:srgbClr val="4b5563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76875" y="3409950"/>
            <a:ext cx="1238250" cy="4762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209157" y="2412206"/>
            <a:ext cx="3773686" cy="78581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530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Q&amp;A</a:t>
            </a:r>
            <a:endParaRPr lang="en-US" sz="5300">
              <a:solidFill>
                <a:schemeClr val="tx1"/>
              </a:solidFill>
            </a:endParaRPr>
          </a:p>
        </p:txBody>
      </p:sp>
      <p:sp>
        <p:nvSpPr>
          <p:cNvPr id="7" name="Text 1"/>
          <p:cNvSpPr/>
          <p:nvPr/>
        </p:nvSpPr>
        <p:spPr>
          <a:xfrm>
            <a:off x="4209157" y="3674269"/>
            <a:ext cx="3773686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Thank you</a:t>
            </a:r>
            <a:endParaRPr lang="en-US" sz="2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dokie</ep:Company>
  <ep:Words>481</ep:Words>
  <ep:PresentationFormat>On-screen Show (16:9)</ep:PresentationFormat>
  <ep:Paragraphs>105</ep:Paragraphs>
  <ep:Slides>13</ep:Slides>
  <ep:Notes>12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2026-06-09T05:15:38.000</dcterms:created>
  <dc:creator>dokie</dc:creator>
  <cp:lastModifiedBy>user</cp:lastModifiedBy>
  <dcterms:modified xsi:type="dcterms:W3CDTF">2026-06-15T09:07:13.330</dcterms:modified>
  <cp:revision>41</cp:revision>
  <dc:subject>PptxGenJS Presentation</dc:subject>
  <cp:version/>
</cp:coreProperties>
</file>